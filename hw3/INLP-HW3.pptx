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g1IRKfCyXfUHNhsxeZXpvBzF8d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190109-25A9-4D91-9B17-DD8E9DB467D8}">
  <a:tblStyle styleId="{51190109-25A9-4D91-9B17-DD8E9DB467D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8"/>
          </a:solidFill>
        </a:fill>
      </a:tcStyle>
    </a:wholeTbl>
    <a:band1H>
      <a:tcTxStyle b="off" i="off"/>
      <a:tcStyle>
        <a:fill>
          <a:solidFill>
            <a:srgbClr val="CCCC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CCCD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17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2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22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" name="Google Shape;86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0" name="Google Shape;9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kaggle.com/t/512c67f48b354508a13cf1d2740e8210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510450" y="1237475"/>
            <a:ext cx="8123100" cy="15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750"/>
              <a:buFont typeface="Calibri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Introduction to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750"/>
              <a:buFont typeface="Calibri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Natural Language Processing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75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69811"/>
              <a:buFont typeface="Calibri"/>
              <a:buNone/>
            </a:pPr>
            <a:r>
              <a:rPr lang="en-US" sz="2650">
                <a:latin typeface="Arial"/>
                <a:ea typeface="Arial"/>
                <a:cs typeface="Arial"/>
                <a:sym typeface="Arial"/>
              </a:rPr>
              <a:t>HW 3</a:t>
            </a:r>
            <a:endParaRPr sz="2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952500" y="3291529"/>
            <a:ext cx="7239000" cy="8994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Multimodal Retrieval-Augmented Generation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Task introduction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>
            <p:ph idx="1" type="body"/>
          </p:nvPr>
        </p:nvSpPr>
        <p:spPr>
          <a:xfrm>
            <a:off x="217271" y="953116"/>
            <a:ext cx="8709458" cy="4103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Building your own Retrieval-Augmented Generation (RAG) retriever that, given a question about a document, selects the most relevant pieces of evidence from the document to support answering that question.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documents in this task are multimodal, containing both text and images. We provide textual descriptions for every image, so a text-only retriever is sufficient; using the raw images (e.g., via a VLM) is optional.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 each question, return a single ranked list of the top-5 most relevant evidence items overall (text and images combined, not 5 per modality), ordered from most to least relevant. Your goal is to maximize the overlap with the ground-truth evidence.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Note: This assignment only evaluates the retrieval stage — you do not need to generate final answers.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2258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0000"/>
              </a:buClr>
              <a:buSzPct val="108108"/>
              <a:buChar char="●"/>
            </a:pPr>
            <a:r>
              <a:rPr lang="en-US" sz="1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Requirement :</a:t>
            </a:r>
            <a:endParaRPr sz="1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580" lvl="1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8108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Submit a report and your source code to E3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22580" lvl="1" marL="91440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ct val="108108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Upload your submission to Kaggle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Task rules &amp; constraints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311700" y="953125"/>
            <a:ext cx="8520600" cy="3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●"/>
            </a:pP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Model size limit: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model must be </a:t>
            </a: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≤ 80B</a:t>
            </a:r>
            <a:r>
              <a:rPr lang="en-US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parameters (MoE included — count total params, not active). We judge this by the model's advertised size in its official name: anything labeled 80B or below qualifies, regardless of the exact parameter count. </a:t>
            </a: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Open-weight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only (e.g., Qwen3-80B-A3B, Llama-3.1-70B, Gemma-3-27B).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●"/>
            </a:pPr>
            <a:r>
              <a:rPr b="1"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Any approach is allowed</a:t>
            </a: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are free to use any approach you like — the only constraints are </a:t>
            </a: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 model size limit and the open-weight requirement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3432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●"/>
            </a:pP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usage policy:</a:t>
            </a: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Any API used in your retrieval pipeline (embedding, reranking, query rewriting, etc.) must be backed by an </a:t>
            </a:r>
            <a:r>
              <a:rPr b="1"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open-weight model within the 80B parameter limit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Closed-source APIs such as GPT-5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Claude are </a:t>
            </a: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allowed. 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311700" y="824345"/>
            <a:ext cx="8520600" cy="37445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dataset consists of question-document pairs built from real-world long documents, where relevant evidence may appear in different modalities such as text, tables, and figures.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HW3_dataset</a:t>
            </a:r>
            <a:endParaRPr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Dataset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4" name="Google Shape;134;p4"/>
          <p:cNvGraphicFramePr/>
          <p:nvPr/>
        </p:nvGraphicFramePr>
        <p:xfrm>
          <a:off x="312533" y="2571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{51190109-25A9-4D91-9B17-DD8E9DB467D8}</a:tableStyleId>
              </a:tblPr>
              <a:tblGrid>
                <a:gridCol w="2267425"/>
                <a:gridCol w="1278950"/>
                <a:gridCol w="4613550"/>
              </a:tblGrid>
              <a:tr h="28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Data_nums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2060"/>
                    </a:solidFill>
                  </a:tcPr>
                </a:tc>
              </a:tr>
              <a:tr h="39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train.jsonl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2055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Labeled samples for training and experimentation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9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test.jsonl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1798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Unlabeled samples for submission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9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image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14826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Image assets referenced by the samples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9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sample_submission.csv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1798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Example submission file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311700" y="36236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Data Introduction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>
            <p:ph idx="1" type="body"/>
          </p:nvPr>
        </p:nvSpPr>
        <p:spPr>
          <a:xfrm>
            <a:off x="311700" y="882724"/>
            <a:ext cx="85206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38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Each sample in dev_15.jsonl is a JSON object: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q_id: Unique question ID.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doc_name / domain: Source document name and its category.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question: Natural-language question to answer from the document.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evidence_modality_type: Modalities that may contain evidence, such as text, table, figure, or chart.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text_quotes: A list of candidate text snippets, each with a quote_id and the original text content..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img_quotes: A list of candidate image evidences (tables / charts / figures), each with a quote_id, an img_path pointing to the file under image/, and an img_description a pre-generated natural-language description of the image. You may use this description directly as text evidence, or generate your own with a multimodal model if you prefer.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gold_quotes: Ground-truth supporting quote_ids. Only available in dev_15.jsonl.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answer_short / answer_interleaved: Reference answers for development only.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test.jsonl has the same public fields but excludes gold labels and reference answers.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Kaggle Submission (70%)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>
            <p:ph idx="1" type="body"/>
          </p:nvPr>
        </p:nvSpPr>
        <p:spPr>
          <a:xfrm>
            <a:off x="311700" y="1152476"/>
            <a:ext cx="8520600" cy="37687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Char char="●"/>
            </a:pP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Kaggle link</a:t>
            </a:r>
            <a:br>
              <a:rPr lang="en-US" sz="1400"/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Use your </a:t>
            </a:r>
            <a:r>
              <a:rPr lang="en-US" sz="1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@nycu.edu.tw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email address </a:t>
            </a:r>
            <a:endParaRPr/>
          </a:p>
          <a:p>
            <a:pPr indent="0" lvl="0" marL="12033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to join the competition.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Display team name: &lt;student ID&gt;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86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1400"/>
              <a:buChar char="-"/>
            </a:pPr>
            <a:r>
              <a:rPr lang="en-US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team name error: -5%</a:t>
            </a:r>
            <a:endParaRPr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Submission format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 CSV file with 2 columns: q_id, gold_quotes.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Each row corresponds to one question in test.jsonl.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q_id must match the question ID exactly.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gold_quotes contains your top-5 retrieved quote_ids, separated by a single space.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18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Column names must be exactly q_id, gold_quotes.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/>
              <a:t>There are one simple baseline and one strong baseline, beat them to get the higher score.</a:t>
            </a:r>
            <a:endParaRPr/>
          </a:p>
          <a:p>
            <a:pPr indent="-33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/>
              <a:t>Evaluation metric: Recall@5. Submit at most 5 quote_ids per row; extra ones beyond the 5th will be ignored. Submitting fewer than 5 is allowed but reduces your maximum recall.</a:t>
            </a:r>
            <a:endParaRPr/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1699" y="1629676"/>
            <a:ext cx="3126609" cy="431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Change your team name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Please remember to change the team name to &lt;student ID&gt;, or there will be a deduction of 5 points for HW 3.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143" y="1866734"/>
            <a:ext cx="6135713" cy="282094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 rot="8543471">
            <a:off x="2228400" y="3949923"/>
            <a:ext cx="390812" cy="33092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Kaggle Submission (70%)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US" sz="1650">
                <a:latin typeface="Arial"/>
                <a:ea typeface="Arial"/>
                <a:cs typeface="Arial"/>
                <a:sym typeface="Arial"/>
              </a:rPr>
              <a:t>Public leaderboard is calculated with approximately 30% of the test data, private leaderboard is calculated with the other 70%, so the final standings may be different. </a:t>
            </a:r>
            <a:r>
              <a:rPr lang="en-US" sz="165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You can only view your private leaderboard score after the competition has ended</a:t>
            </a:r>
            <a:r>
              <a:rPr lang="en-US" sz="1650">
                <a:latin typeface="Arial"/>
                <a:ea typeface="Arial"/>
                <a:cs typeface="Arial"/>
                <a:sym typeface="Arial"/>
              </a:rPr>
              <a:t>.</a:t>
            </a:r>
            <a:endParaRPr sz="1650"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US" sz="1650">
                <a:latin typeface="Arial"/>
                <a:ea typeface="Arial"/>
                <a:cs typeface="Arial"/>
                <a:sym typeface="Arial"/>
              </a:rPr>
              <a:t>Your submission is evaluated by </a:t>
            </a:r>
            <a:r>
              <a:rPr lang="en-US" sz="16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Recall@5</a:t>
            </a:r>
            <a:r>
              <a:rPr lang="en-US" sz="1650">
                <a:latin typeface="Arial"/>
                <a:ea typeface="Arial"/>
                <a:cs typeface="Arial"/>
                <a:sym typeface="Arial"/>
              </a:rPr>
              <a:t>, which measures how many ground-truth evidence quote_ids are covered by your top-5 retrieved results.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US" sz="1650">
                <a:latin typeface="Arial"/>
                <a:ea typeface="Arial"/>
                <a:cs typeface="Arial"/>
                <a:sym typeface="Arial"/>
              </a:rPr>
              <a:t>You can submit </a:t>
            </a:r>
            <a:r>
              <a:rPr lang="en-US" sz="165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at most 5 times each day</a:t>
            </a:r>
            <a:r>
              <a:rPr lang="en-US" sz="1650">
                <a:latin typeface="Arial"/>
                <a:ea typeface="Arial"/>
                <a:cs typeface="Arial"/>
                <a:sym typeface="Arial"/>
              </a:rPr>
              <a:t> and choose 3 of the submissions to be considered for the private leaderboard, or will otherwise default to the best public scoring submissions.</a:t>
            </a:r>
            <a:endParaRPr sz="16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260350" y="1132271"/>
            <a:ext cx="85719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answer the following 4 questions in detail: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Q1. Method Description (5%)</a:t>
            </a:r>
            <a:endParaRPr b="1" i="0" sz="1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147" lvl="0" marL="74295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-"/>
            </a:pPr>
            <a:r>
              <a:rPr b="0" i="0" lang="en-US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Clearly describe your overall retrieval pipeline and the main idea behind your method.</a:t>
            </a:r>
            <a:endParaRPr b="0" i="0" sz="16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147" lvl="0" marL="74295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-"/>
            </a:pPr>
            <a:r>
              <a:rPr b="0" i="0" lang="en-US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Explain the retriever, evidence preprocessing, ranking procedure, and any additional techniques you used.</a:t>
            </a:r>
            <a:endParaRPr b="0" i="0" sz="16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Q2. Comparison of Retrieval Methods (5%)</a:t>
            </a:r>
            <a:endParaRPr b="1" i="0" sz="18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b="0" i="0" lang="en-US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Based on your experimental results, compare the performance of BM25, Dense Retriever, direct LLM selection, and your own method.</a:t>
            </a:r>
            <a:endParaRPr b="0" i="0" sz="16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-"/>
            </a:pPr>
            <a:r>
              <a:rPr b="0" i="0" lang="en-US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Analyze the strengths and weaknesses of all four methods, and explain what you think causes the performance differences.</a:t>
            </a:r>
            <a:endParaRPr b="0" i="0" sz="16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>
            <p:ph type="title"/>
          </p:nvPr>
        </p:nvSpPr>
        <p:spPr>
          <a:xfrm>
            <a:off x="311700" y="3084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Report Submission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311700" y="16149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Report Submission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170121" y="734190"/>
            <a:ext cx="8973879" cy="440930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801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Q3. Multimodal Embedding vs. Text-Description Retrieval for Image Evidence(10%)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There are two common ways to retrieve image evidence 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7147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Char char="-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(a) Use a multimodal embedding model to encode the image directly into a vector, then compare it with the question embedding.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7147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Char char="-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(b) Convert each image into a text description, then retrieve it together with other text evidence using a text-only retriever. You may either use the img_description field that is already provided in the dataset, or generate your own description with a VLM / image-captioning model. </a:t>
            </a:r>
            <a:endParaRPr/>
          </a:p>
          <a:p>
            <a:pPr indent="-277147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Char char="-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Briefly state which option you chose and why.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7147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Char char="-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Compare your experimental results for these two approaches. Discuss which one performs better on this task and explain what you think causes the difference.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801"/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Q4. Modality Preference Analysis (10%)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Examine whether your retriever shows a preference for a particular modality in its retrieval results.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7147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Char char="-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For example, does it tend to retrieve more text evidence, or does it favor image evidence?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7147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Char char="-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Based on your actual experimental results, describe this preference and analyze what you think causes it.</a:t>
            </a:r>
            <a:endParaRPr/>
          </a:p>
          <a:p>
            <a:pPr indent="-277147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Font typeface="Proxima Nova"/>
              <a:buChar char="-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even if your retriever shows no clear preference, you are still expected to explain what aspects of your method cause this balanced behavior.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2449"/>
              <a:buNone/>
            </a:pPr>
            <a:r>
              <a:rPr lang="en-US" sz="21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Please answer the questions in detail to get full credit for each question.</a:t>
            </a:r>
            <a:endParaRPr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Grading policy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 txBox="1"/>
          <p:nvPr>
            <p:ph idx="1" type="body"/>
          </p:nvPr>
        </p:nvSpPr>
        <p:spPr>
          <a:xfrm>
            <a:off x="311700" y="1152475"/>
            <a:ext cx="8520600" cy="3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Kaggle (70%)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en-US" sz="1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30% </a:t>
            </a:r>
            <a:r>
              <a:rPr lang="en-US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based on the </a:t>
            </a:r>
            <a:r>
              <a:rPr lang="en-US" sz="1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 leaderboard </a:t>
            </a:r>
            <a:r>
              <a:rPr lang="en-US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score </a:t>
            </a:r>
            <a:r>
              <a:rPr lang="en-US" sz="1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and 70% based on the private leaderboard score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Basic score :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	Over strong baseline : 55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	Over simple bassline : 40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	Under simple baseline : 25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Ranking score: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latin typeface="Arial"/>
                <a:ea typeface="Arial"/>
                <a:cs typeface="Arial"/>
                <a:sym typeface="Arial"/>
              </a:rPr>
              <a:t>	15-(15/N)*(ranking-1), N=numbers of people in the interval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Report (30%)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10% for each quesiton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n-US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You will receive 0 points if you do not submit the source code.</a:t>
            </a:r>
            <a:endParaRPr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E3 Submission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311700" y="1152475"/>
            <a:ext cx="85206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Submit your source code and report to E3 before 5/26(Tue) 23:59, </a:t>
            </a:r>
            <a:r>
              <a:rPr lang="en-US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no late submissions will be accepted !</a:t>
            </a:r>
            <a:endParaRPr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Format：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HW3_&lt;student ID&gt;.zip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－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Source code : HW3_&lt;student ID&gt;.py  or  HW3_&lt;student ID&gt;.ipynb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－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report : HW3_&lt;student ID&gt;.pdf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5077"/>
              <a:buNone/>
            </a:pPr>
            <a:r>
              <a:rPr lang="en-US" sz="1691">
                <a:latin typeface="Arial"/>
                <a:ea typeface="Arial"/>
                <a:cs typeface="Arial"/>
                <a:sym typeface="Arial"/>
              </a:rPr>
              <a:t>If you have any question about HW 3, please feel free to contact with TA: Ting-Shian Kuo</a:t>
            </a:r>
            <a:endParaRPr sz="169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5077"/>
              <a:buNone/>
            </a:pPr>
            <a:r>
              <a:rPr lang="en-US" sz="1691">
                <a:latin typeface="Arial"/>
                <a:ea typeface="Arial"/>
                <a:cs typeface="Arial"/>
                <a:sym typeface="Arial"/>
              </a:rPr>
              <a:t>through email </a:t>
            </a:r>
            <a:r>
              <a:rPr lang="en-US" sz="1691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chad910713.cs14@nycu.edu.tw</a:t>
            </a:r>
            <a:endParaRPr sz="1691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/>
        </p:nvSpPr>
        <p:spPr>
          <a:xfrm>
            <a:off x="746200" y="2256150"/>
            <a:ext cx="2128618" cy="6309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Fun !</a:t>
            </a:r>
            <a:endParaRPr b="1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6081" y="1103548"/>
            <a:ext cx="5139896" cy="293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